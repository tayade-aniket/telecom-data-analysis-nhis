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5" r:id="rId2"/>
    <p:sldId id="310" r:id="rId3"/>
    <p:sldId id="311" r:id="rId4"/>
    <p:sldId id="313" r:id="rId5"/>
    <p:sldId id="312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</p:sldIdLst>
  <p:sldSz cx="12188825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29" autoAdjust="0"/>
  </p:normalViewPr>
  <p:slideViewPr>
    <p:cSldViewPr showGuides="1">
      <p:cViewPr varScale="1">
        <p:scale>
          <a:sx n="75" d="100"/>
          <a:sy n="75" d="100"/>
        </p:scale>
        <p:origin x="540" y="-150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6/29/2025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6/29/2025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6/29/2025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6/29/2025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6/29/2025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6/29/2025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6/29/2025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6/29/2025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6/29/2025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skatechteacher.com/thinking-business-man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A57778D-0E77-F502-37D6-1A5A3A2C0245}"/>
              </a:ext>
            </a:extLst>
          </p:cNvPr>
          <p:cNvSpPr txBox="1"/>
          <p:nvPr/>
        </p:nvSpPr>
        <p:spPr>
          <a:xfrm>
            <a:off x="1989956" y="1141430"/>
            <a:ext cx="8740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Barlow Bold" pitchFamily="34" charset="-122"/>
                <a:cs typeface="Barlow Bold" pitchFamily="34" charset="-120"/>
              </a:rPr>
              <a:t>NEXTHIKE IT SOLUTIONS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C997C6-28AE-FCDE-C93A-EB6BCC2CC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2" y="116632"/>
            <a:ext cx="2846660" cy="10247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0D49A3-19B4-8FD9-A296-F472B08297A1}"/>
              </a:ext>
            </a:extLst>
          </p:cNvPr>
          <p:cNvSpPr txBox="1"/>
          <p:nvPr/>
        </p:nvSpPr>
        <p:spPr>
          <a:xfrm>
            <a:off x="952092" y="2708920"/>
            <a:ext cx="110892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Britannic Bold" panose="020B0903060703020204" pitchFamily="34" charset="0"/>
                <a:cs typeface="Arial" panose="020B0604020202020204" pitchFamily="34" charset="0"/>
              </a:rPr>
              <a:t>USER ANALYTICS IN THE TELECOMMUNICATION INDUSTRY. </a:t>
            </a:r>
            <a:r>
              <a:rPr lang="en-US" sz="4000" dirty="0">
                <a:solidFill>
                  <a:srgbClr val="FFFF00"/>
                </a:solidFill>
                <a:latin typeface="Britannic Bold" panose="020B0903060703020204" pitchFamily="34" charset="0"/>
                <a:ea typeface="IBM Plex Sans Medium" pitchFamily="34" charset="-122"/>
                <a:cs typeface="Arial" panose="020B0604020202020204" pitchFamily="34" charset="0"/>
              </a:rPr>
              <a:t>A DATA-DRIVEN INVESTMENT ANALYSIS.</a:t>
            </a:r>
            <a:endParaRPr lang="en-IN" sz="4000" dirty="0">
              <a:solidFill>
                <a:srgbClr val="FFFF00"/>
              </a:solidFill>
              <a:latin typeface="Britannic Bold" panose="020B0903060703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462D2B0-0FA4-C846-E2E9-39E950B81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0196" y="5292072"/>
            <a:ext cx="4693024" cy="7589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Mr. Aniket G. Tayade.</a:t>
            </a: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5000">
        <p15:prstTrans prst="pageCurlDouble"/>
      </p:transition>
    </mc:Choice>
    <mc:Fallback xmlns="">
      <p:transition spd="slow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5E87D24-B54A-D95B-9910-7212AFB3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260" y="260648"/>
            <a:ext cx="7344816" cy="781816"/>
          </a:xfrm>
        </p:spPr>
        <p:txBody>
          <a:bodyPr>
            <a:noAutofit/>
          </a:bodyPr>
          <a:lstStyle/>
          <a:p>
            <a:pPr algn="ctr"/>
            <a:r>
              <a:rPr lang="en-IN" sz="4400" dirty="0">
                <a:solidFill>
                  <a:srgbClr val="FFFF00"/>
                </a:solidFill>
                <a:latin typeface="Britannic Bold" panose="020B0903060703020204" pitchFamily="34" charset="0"/>
              </a:rPr>
              <a:t>Introduction &amp; Background</a:t>
            </a:r>
            <a:endParaRPr lang="en-US" sz="4400" dirty="0">
              <a:solidFill>
                <a:srgbClr val="FFFF00"/>
              </a:solidFill>
              <a:latin typeface="Britannic Bold" panose="020B0903060703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FCBE4E-55E5-E9DC-C2AA-A7A784A03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648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10455C6-C26C-4A9E-6A66-7C196000703B}"/>
              </a:ext>
            </a:extLst>
          </p:cNvPr>
          <p:cNvSpPr txBox="1"/>
          <p:nvPr/>
        </p:nvSpPr>
        <p:spPr>
          <a:xfrm>
            <a:off x="4942284" y="1484784"/>
            <a:ext cx="69847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Who is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TellCo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telecom company operating 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Pefkakia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Opportunity: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investor is considering acquisition.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Challenge: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TellCo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has not yet leveraged its extensive user data for strategic insights.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this analysis?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uncover growth opportunities, identify churn risks, and inform the investment decision.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183CE8A7-CFE5-E633-27D6-F046DED44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14" y="188640"/>
            <a:ext cx="6854773" cy="908720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FFFF00"/>
                </a:solidFill>
                <a:latin typeface="Britannic Bold" panose="020B0903060703020204" pitchFamily="34" charset="0"/>
              </a:rPr>
              <a:t>Problem Statement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DE0A0-8FDC-933D-8E78-D5A7A9265BDF}"/>
              </a:ext>
            </a:extLst>
          </p:cNvPr>
          <p:cNvSpPr txBox="1"/>
          <p:nvPr/>
        </p:nvSpPr>
        <p:spPr>
          <a:xfrm>
            <a:off x="472798" y="1412776"/>
            <a:ext cx="6589059" cy="4825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000" b="1" dirty="0">
                <a:solidFill>
                  <a:srgbClr val="F8FAFF"/>
                </a:solidFill>
                <a:latin typeface="DeepSeek-CJK-patch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Investor's Dilemma: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buy or not to buy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TellCo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Questions: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are the core growth avenues within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TellCo's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existing user base?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there hidden churn risks that could impact profitability?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TellCo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truly profitable and sustainable investment?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638744-A089-6663-FAD5-8B0EB635B4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0533"/>
          <a:stretch>
            <a:fillRect/>
          </a:stretch>
        </p:blipFill>
        <p:spPr>
          <a:xfrm>
            <a:off x="7120487" y="0"/>
            <a:ext cx="5093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C63C9C-9419-2F5C-E043-53A56ED4C99F}"/>
              </a:ext>
            </a:extLst>
          </p:cNvPr>
          <p:cNvSpPr txBox="1"/>
          <p:nvPr/>
        </p:nvSpPr>
        <p:spPr>
          <a:xfrm>
            <a:off x="5014292" y="116632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Project</a:t>
            </a:r>
            <a:r>
              <a:rPr lang="en-IN" dirty="0"/>
              <a:t>  </a:t>
            </a:r>
            <a:r>
              <a:rPr lang="en-IN" sz="44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29626C-B9AF-2853-C45D-5FD093E1AD29}"/>
              </a:ext>
            </a:extLst>
          </p:cNvPr>
          <p:cNvSpPr txBox="1"/>
          <p:nvPr/>
        </p:nvSpPr>
        <p:spPr>
          <a:xfrm>
            <a:off x="5014292" y="1052736"/>
            <a:ext cx="7056784" cy="556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Objective 1: Analyze user behavior, device usage, and application activity.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Objective 2: Measure user engagement and network experience.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Objective 3: Calculate customer satisfaction based on usage and quality.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Objective 4: Segment users and build predictive models (e.g., for churn).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Objective 5: Deliver actionable insights to support the investment decision.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AB61A1-CDDB-8AEE-82FB-FD39954DC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4754EA-57F1-229D-7661-8DB83A591F19}"/>
              </a:ext>
            </a:extLst>
          </p:cNvPr>
          <p:cNvSpPr txBox="1"/>
          <p:nvPr/>
        </p:nvSpPr>
        <p:spPr>
          <a:xfrm>
            <a:off x="117748" y="188640"/>
            <a:ext cx="71835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Data Overview &amp; Initial Scan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C8E6C-733C-120C-4EF8-E66250C496B7}"/>
              </a:ext>
            </a:extLst>
          </p:cNvPr>
          <p:cNvSpPr txBox="1"/>
          <p:nvPr/>
        </p:nvSpPr>
        <p:spPr>
          <a:xfrm>
            <a:off x="117748" y="1916832"/>
            <a:ext cx="71835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Dataset Source: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telcom_data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(2).xlsx - Sheet1.csv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Scale: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150,001 rows and 55 columns – a substantial amount of user data.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Data Types: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Predominantly numerical (50 float64 columns) with some categorical/object types (5 columns) requiring careful handling.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Memory Footprint: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Approximately 100.85 MB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C1794C-5F86-359B-15BE-781B5A2EF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380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F3F0E5-03D8-E163-3F24-AFB4BE71611F}"/>
              </a:ext>
            </a:extLst>
          </p:cNvPr>
          <p:cNvSpPr txBox="1"/>
          <p:nvPr/>
        </p:nvSpPr>
        <p:spPr>
          <a:xfrm>
            <a:off x="5590356" y="-54679"/>
            <a:ext cx="6264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Data Preprocessing: Handling Missing Values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ACFE7-28D1-8ECB-CDCE-27579345467E}"/>
              </a:ext>
            </a:extLst>
          </p:cNvPr>
          <p:cNvSpPr txBox="1"/>
          <p:nvPr/>
        </p:nvSpPr>
        <p:spPr>
          <a:xfrm>
            <a:off x="5729111" y="1268760"/>
            <a:ext cx="64597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Challenge: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Significant missing data, especially in columns related to specific application usage and network statistics (e.g.,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DL/UL, Netflix DL/UL, Gaming DL/UL).</a:t>
            </a: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Top Missing Columns (Examples):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Nb of sec with 37500B &lt; Vol UL: 86.84% missing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Nb of sec with 6250B &lt; Vol UL &lt; 37500B: 74.56% missing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TCP UL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Retrans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 Vol (Bytes): 64.43% missing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Strategy: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Imputation and careful consideration of columns with very high missing percentages.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164ED2-EC58-B1CD-3A41-33CFB4144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7" t="16895" r="28435" b="1207"/>
          <a:stretch>
            <a:fillRect/>
          </a:stretch>
        </p:blipFill>
        <p:spPr>
          <a:xfrm>
            <a:off x="0" y="0"/>
            <a:ext cx="5374332" cy="68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10FEBA-ED3C-81A0-0E30-1BC331A2CFC1}"/>
              </a:ext>
            </a:extLst>
          </p:cNvPr>
          <p:cNvSpPr txBox="1"/>
          <p:nvPr/>
        </p:nvSpPr>
        <p:spPr>
          <a:xfrm>
            <a:off x="261764" y="157564"/>
            <a:ext cx="7030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Data Preprocessing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E56B57-C6ED-1F73-28BA-2DA1D62AF5C4}"/>
              </a:ext>
            </a:extLst>
          </p:cNvPr>
          <p:cNvSpPr txBox="1"/>
          <p:nvPr/>
        </p:nvSpPr>
        <p:spPr>
          <a:xfrm>
            <a:off x="261764" y="1052736"/>
            <a:ext cx="691276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Duplicate Records: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Checked for and removed to ensure data integrity and prevent skewed analysis.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Outlier Detection: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Addressed extreme values that could distort statistical measures and model training.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Specific Handling: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Focus on critical columns like `Dur.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)` and `Total DL/UL (Bytes)`.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Clean data means reliable insights. Every step in cleaning removes noise, making the signal stronger.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91AA7A-10E6-E2E5-CB98-C103E429B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BA4BF0-654D-D1D7-C0B8-C168FD7EA088}"/>
              </a:ext>
            </a:extLst>
          </p:cNvPr>
          <p:cNvSpPr txBox="1"/>
          <p:nvPr/>
        </p:nvSpPr>
        <p:spPr>
          <a:xfrm>
            <a:off x="4798268" y="-99392"/>
            <a:ext cx="67945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Feature Engineering</a:t>
            </a:r>
            <a:endParaRPr lang="en-IN" sz="4400" spc="100" dirty="0">
              <a:solidFill>
                <a:srgbClr val="FFFF00"/>
              </a:solidFill>
              <a:latin typeface="Britannic Bold" panose="020B0903060703020204" pitchFamily="34" charset="0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F8530-907F-290E-908F-90540CD9CF11}"/>
              </a:ext>
            </a:extLst>
          </p:cNvPr>
          <p:cNvSpPr txBox="1"/>
          <p:nvPr/>
        </p:nvSpPr>
        <p:spPr>
          <a:xfrm>
            <a:off x="4798268" y="739725"/>
            <a:ext cx="739055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New Metrics Created: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`Total Data (Bytes)`: Sum of Total DL and Total UL.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Total App Data (Bytes)`: Aggregate data for specific applications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Netflix, Gaming, Other).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`Session Frequency`: How often a user initiates a session.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`Duration per Session (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)`: Average duration of user sessions.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Purpose: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create more meaningful indicators of user behavior and network impact.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Raw data can only tell us so much. Feature engineering is like giving the data a voice to tell a richer story.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59A1BF-AB50-6CD6-9338-A85C13FE5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68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7E2847-DBFC-8E89-C730-72EE8EC1D109}"/>
              </a:ext>
            </a:extLst>
          </p:cNvPr>
          <p:cNvSpPr txBox="1"/>
          <p:nvPr/>
        </p:nvSpPr>
        <p:spPr>
          <a:xfrm>
            <a:off x="184634" y="1484784"/>
            <a:ext cx="735505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Total Data Consumed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Identified the overall data traffic patterns.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Top 10 Engaged Users: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Highlighted users with the highest total data usage. These are the "power users" driving significant traffic.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Engagement Distribution: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Visualized the distribution of engagement metrics (e.g., session duration, data usage).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Understanding who uses the most data helps us target high-value customers and capacity planning.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0E9928-5616-0B39-CF00-EA920D2B26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0E6BBE-E0E8-E5AF-B6DE-3716966944F7}"/>
              </a:ext>
            </a:extLst>
          </p:cNvPr>
          <p:cNvSpPr txBox="1"/>
          <p:nvPr/>
        </p:nvSpPr>
        <p:spPr>
          <a:xfrm>
            <a:off x="184635" y="44624"/>
            <a:ext cx="73550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User Engagement Analysis: Overall Traffic &amp; Top Users</a:t>
            </a:r>
          </a:p>
        </p:txBody>
      </p:sp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5D896F9-A40E-1631-F92E-9EF1E16EBF40}"/>
              </a:ext>
            </a:extLst>
          </p:cNvPr>
          <p:cNvSpPr txBox="1"/>
          <p:nvPr/>
        </p:nvSpPr>
        <p:spPr>
          <a:xfrm>
            <a:off x="166216" y="-5680"/>
            <a:ext cx="53285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User Engagement: Application Activity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3129F-2BFB-16B2-A120-0773697DCE2F}"/>
              </a:ext>
            </a:extLst>
          </p:cNvPr>
          <p:cNvSpPr txBox="1"/>
          <p:nvPr/>
        </p:nvSpPr>
        <p:spPr>
          <a:xfrm>
            <a:off x="166216" y="1406381"/>
            <a:ext cx="55681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Most Consumed Applications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Quantified data usage across different application categories (Social, Google, Email,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Netflix, Gaming, Other).</a:t>
            </a:r>
          </a:p>
          <a:p>
            <a:endParaRPr lang="en-US" sz="1600" dirty="0"/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Key Findings: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Gaming, Other, 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are the top 3 applications by data volume.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Netflix and Google also represent significant data consumption.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Implications: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applications are critical for network planning and service quality.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Knowing what apps are driving traffic helps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TellCo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prioritize network investment and optimize user experience.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88DEC8-90D4-36FB-DEB3-59833A4BB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5" t="15325" r="17508" b="11122"/>
          <a:stretch>
            <a:fillRect/>
          </a:stretch>
        </p:blipFill>
        <p:spPr>
          <a:xfrm>
            <a:off x="5899564" y="3429000"/>
            <a:ext cx="6289261" cy="34665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70D6B5-05C5-E8B8-58DB-C6932D684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0" t="27934" r="20462" b="15325"/>
          <a:stretch>
            <a:fillRect/>
          </a:stretch>
        </p:blipFill>
        <p:spPr>
          <a:xfrm>
            <a:off x="5891452" y="-5680"/>
            <a:ext cx="6289261" cy="332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4DB555-3F16-E7F4-1DFA-1EF18FE036BA}"/>
              </a:ext>
            </a:extLst>
          </p:cNvPr>
          <p:cNvSpPr txBox="1"/>
          <p:nvPr/>
        </p:nvSpPr>
        <p:spPr>
          <a:xfrm>
            <a:off x="261764" y="-27384"/>
            <a:ext cx="63367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Customer Experience: Handset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82E1B-CEE7-6AB0-E779-CB9A9DEAEE29}"/>
              </a:ext>
            </a:extLst>
          </p:cNvPr>
          <p:cNvSpPr txBox="1"/>
          <p:nvPr/>
        </p:nvSpPr>
        <p:spPr>
          <a:xfrm>
            <a:off x="264120" y="1340768"/>
            <a:ext cx="5475613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Top 5 Handsets: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Identified the most popular device manufacturers and models.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Samsung and Apple devices dominate the user base.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Operating System Distribution: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Analyzed the breakdown between Android and Apple OS users.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Experience Correlation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Examined how device type and OS correlate with session duration and data throughput.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Device diversity means varied network demands. Optimizing for top handsets ensures a smoother experience for the majority.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092FD3-372B-1F22-8623-23445675F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9" t="27935" r="15736" b="3765"/>
          <a:stretch>
            <a:fillRect/>
          </a:stretch>
        </p:blipFill>
        <p:spPr>
          <a:xfrm>
            <a:off x="6141861" y="1196752"/>
            <a:ext cx="6025409" cy="388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06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2C38A0-9B2A-EB2B-92FC-AE4D11AC2631}"/>
              </a:ext>
            </a:extLst>
          </p:cNvPr>
          <p:cNvSpPr txBox="1"/>
          <p:nvPr/>
        </p:nvSpPr>
        <p:spPr>
          <a:xfrm>
            <a:off x="6166420" y="0"/>
            <a:ext cx="6768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Customer Experience: Network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5C1FD-7D8E-4D55-FD67-67889C004D80}"/>
              </a:ext>
            </a:extLst>
          </p:cNvPr>
          <p:cNvSpPr txBox="1"/>
          <p:nvPr/>
        </p:nvSpPr>
        <p:spPr>
          <a:xfrm>
            <a:off x="6310438" y="1582340"/>
            <a:ext cx="580129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Data Throughput Analysis: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Assessed the average download and upload speeds experienced by users.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Retransmission Rates: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Identified instances of data retransmissions, a key indicator of network congestion or poor signal quality.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Experience Score Calculation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composite score reflecting overall network performance and user experience.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Fast, reliable network performance isn't a luxury, it's the bedrock of customer satisfaction. High retransmissions are red flags.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1E23BC-B075-CEC5-9ACF-BA7A93379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4" t="30036" r="19281" b="4817"/>
          <a:stretch>
            <a:fillRect/>
          </a:stretch>
        </p:blipFill>
        <p:spPr>
          <a:xfrm>
            <a:off x="77098" y="183084"/>
            <a:ext cx="5801290" cy="3240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E2A785-EB1D-3DB0-FFA3-D7AB0A9E6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5" t="26883" r="19280" b="10070"/>
          <a:stretch>
            <a:fillRect/>
          </a:stretch>
        </p:blipFill>
        <p:spPr>
          <a:xfrm>
            <a:off x="77097" y="3501008"/>
            <a:ext cx="5801290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33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C60BA7-F277-C86B-DAD4-AF4C22051976}"/>
              </a:ext>
            </a:extLst>
          </p:cNvPr>
          <p:cNvSpPr txBox="1"/>
          <p:nvPr/>
        </p:nvSpPr>
        <p:spPr>
          <a:xfrm>
            <a:off x="261764" y="395947"/>
            <a:ext cx="69127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Customer Satisfaction &amp; Churn: 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FAF6A1-809F-E1BB-766C-55F3A9691588}"/>
              </a:ext>
            </a:extLst>
          </p:cNvPr>
          <p:cNvSpPr txBox="1"/>
          <p:nvPr/>
        </p:nvSpPr>
        <p:spPr>
          <a:xfrm>
            <a:off x="261764" y="1916832"/>
            <a:ext cx="70567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Satisfaction Score: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Developed a metric to quantify user satisfaction based on engagement and experience data.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Engagement vs. Satisfaction: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Explored the relationship between how much users engage and their reported satisfaction.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Low engagement could signal dissatisfaction or impending churn.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Churn Definition: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Defined churn based on inactivity or significant drop in engagement over a period.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Satisfaction isn't just a feeling; it's a measurable outcome directly tied to usage and network quality.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484F58-D042-C5A7-0E5C-5651D3BFE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896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9466AE-175A-440D-1F82-95FEAFA4C3AC}"/>
              </a:ext>
            </a:extLst>
          </p:cNvPr>
          <p:cNvSpPr txBox="1"/>
          <p:nvPr/>
        </p:nvSpPr>
        <p:spPr>
          <a:xfrm>
            <a:off x="6319937" y="-27384"/>
            <a:ext cx="58688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Customer Satisfaction &amp; Churn: Churn Drivers</a:t>
            </a:r>
            <a:endParaRPr lang="en-IN" sz="4000" spc="100" dirty="0">
              <a:solidFill>
                <a:srgbClr val="FFFF00"/>
              </a:solidFill>
              <a:latin typeface="Britannic Bold" panose="020B0903060703020204" pitchFamily="34" charset="0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07CAD-9F3A-A5B6-9780-36FBF2B31006}"/>
              </a:ext>
            </a:extLst>
          </p:cNvPr>
          <p:cNvSpPr txBox="1"/>
          <p:nvPr/>
        </p:nvSpPr>
        <p:spPr>
          <a:xfrm>
            <a:off x="6319936" y="1340768"/>
            <a:ext cx="586888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Identification of Churn-Prone Users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egmented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users into groups (e.g., highly engaged, moderately engaged, low engaged, dormant) to identify potential churners.</a:t>
            </a:r>
          </a:p>
          <a:p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Key Churn Factors: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Analyzed which factors (e.g., poor experience score, low data usage, high retransmissions, specific app issues) are most correlated with churn.</a:t>
            </a:r>
          </a:p>
          <a:p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Predictive </a:t>
            </a:r>
            <a:r>
              <a:rPr lang="en-IN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Used machine learning models (e.g.,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KMeans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Clustering for segmentation,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RandomForest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Regressor for predicting engagement) to anticipate churn.</a:t>
            </a:r>
          </a:p>
          <a:p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Proactive churn prevention is far more cost-effective than customer re-acquisition. Knowing the "why" is half the battle.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E06791-A7A1-B673-C2E1-BDA07EF93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5" t="43696" r="11010" b="1664"/>
          <a:stretch>
            <a:fillRect/>
          </a:stretch>
        </p:blipFill>
        <p:spPr>
          <a:xfrm>
            <a:off x="1" y="332656"/>
            <a:ext cx="6238428" cy="26942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56EC87-75CC-128F-3C97-623B0993C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5" t="26883" r="18689" b="3766"/>
          <a:stretch>
            <a:fillRect/>
          </a:stretch>
        </p:blipFill>
        <p:spPr>
          <a:xfrm>
            <a:off x="1" y="3177456"/>
            <a:ext cx="6238428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34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5E95B4-8564-DAC8-B41D-DD8832FBF5CB}"/>
              </a:ext>
            </a:extLst>
          </p:cNvPr>
          <p:cNvSpPr txBox="1"/>
          <p:nvPr/>
        </p:nvSpPr>
        <p:spPr>
          <a:xfrm>
            <a:off x="261764" y="116632"/>
            <a:ext cx="71570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Key Findings &amp; Opportunities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ED940-7B28-3572-62C5-EF23B77E7F4A}"/>
              </a:ext>
            </a:extLst>
          </p:cNvPr>
          <p:cNvSpPr txBox="1"/>
          <p:nvPr/>
        </p:nvSpPr>
        <p:spPr>
          <a:xfrm>
            <a:off x="261764" y="908720"/>
            <a:ext cx="715702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High Data Consumption: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Gaming and video streaming are major traffic drivers, indicating strong demand for high-bandwidth services.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Device Dominance: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Apple and Samsung users form a significant portion of the customer base, highlighting the importance of optimizing for these ecosystems.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Network Experience Impacts Churn: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Direct correlation between poor network experience (e.g., high retransmissions) and user dissatisfaction/churn risk.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Untapped Potential: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Opportunities exist to increase engagement among moderate users and re-engage dormant users.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data paints a clear picture: robust network, targeted engagement, and understanding user segments are the keys to growth.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284347-9719-51CE-9D88-656A92FDC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897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636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6124BD-9DC4-5713-7801-7BC3029D71A7}"/>
              </a:ext>
            </a:extLst>
          </p:cNvPr>
          <p:cNvSpPr txBox="1"/>
          <p:nvPr/>
        </p:nvSpPr>
        <p:spPr>
          <a:xfrm>
            <a:off x="553392" y="260648"/>
            <a:ext cx="10657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Recommendations for </a:t>
            </a:r>
            <a:r>
              <a:rPr lang="en-IN" sz="4000" spc="100" dirty="0" err="1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TellCo</a:t>
            </a:r>
            <a:endParaRPr lang="en-IN" sz="4000" spc="100" dirty="0">
              <a:solidFill>
                <a:srgbClr val="FFFF00"/>
              </a:solidFill>
              <a:latin typeface="Britannic Bold" panose="020B0903060703020204" pitchFamily="34" charset="0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2B2A0-6EAC-4C0A-DB52-479BCBC1821D}"/>
              </a:ext>
            </a:extLst>
          </p:cNvPr>
          <p:cNvSpPr txBox="1"/>
          <p:nvPr/>
        </p:nvSpPr>
        <p:spPr>
          <a:xfrm>
            <a:off x="477788" y="1124744"/>
            <a:ext cx="11449272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Network Optimization: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Invest in improving network quality, especially in areas with high retransmission rates and for data-intensive applications like gaming and video.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Targeted Engagement Campaigns: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 personalized offers for moderate users to boost their engagement and move them into high-value segments.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Design re-engagement strategies for dormant users, possibly with incentives or tailored content.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Churn Alert System: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Implement a system to identify users with deteriorating experience scores and proactively offer support or incentives.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Partnerships: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Collaborate with top handset brands (Apple, Samsung) for bundled offers and device-network optimization.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Analytics Team: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Strengthen the analytics team to continuously monitor usage, satisfaction, and network data for faster, data-driven decisions.</a:t>
            </a:r>
          </a:p>
          <a:p>
            <a:endParaRPr lang="en-IN" dirty="0"/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aren't just suggestions; they're direct actions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TellCo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can take to secure its future.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1255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34CE93-0879-1241-7723-2574FC0A4299}"/>
              </a:ext>
            </a:extLst>
          </p:cNvPr>
          <p:cNvSpPr txBox="1"/>
          <p:nvPr/>
        </p:nvSpPr>
        <p:spPr>
          <a:xfrm>
            <a:off x="4942284" y="132303"/>
            <a:ext cx="7128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spc="100" dirty="0">
                <a:solidFill>
                  <a:srgbClr val="FFFF00"/>
                </a:solidFill>
                <a:latin typeface="Britannic Bold" panose="020B0903060703020204" pitchFamily="34" charset="0"/>
                <a:ea typeface="+mj-ea"/>
                <a:cs typeface="+mj-cs"/>
              </a:rPr>
              <a:t>Investment Decision Support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EA8DDD-C46C-8D1F-AF7E-313EC1F863CF}"/>
              </a:ext>
            </a:extLst>
          </p:cNvPr>
          <p:cNvSpPr txBox="1"/>
          <p:nvPr/>
        </p:nvSpPr>
        <p:spPr>
          <a:xfrm>
            <a:off x="4942285" y="1052736"/>
            <a:ext cx="71287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Growth Potential: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Strong demand for data-intensive services and opportunities to increase engagement among existing users indicate good growth potential.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Addressable Risks: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Churn risks are identifiable and actionable through targeted interventions and network improvements.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Data-Driven Future: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TellCo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has a wealth of untapped data that, with proper analysis and strategy, can lead to significant ROI.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Overall Conclusion: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Based on the comprehensive data analysis,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TellCo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presents a promising investment opportunity, provided strategic recommendations are implemented.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TellCo's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data isn't just a record of the past; it's a blueprint for a profitable future.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E67CB1-CB78-EE69-CA3F-F935CFB3F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630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F1A455A-FF40-F3E6-074B-C9B82152B6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312" y="0"/>
            <a:ext cx="4570413" cy="685800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B52BD97B-5540-8B22-F5D3-D1B0E7C6E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852" y="2204864"/>
            <a:ext cx="557125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briola" panose="04040605051002020D02" pitchFamily="82" charset="0"/>
                <a:cs typeface="Courier New" panose="02070309020205020404" pitchFamily="49" charset="0"/>
              </a:rPr>
              <a:t>Thank you so much for taking the time to review my presentation. I truly appreciate your support!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94101-4B01-FF82-19F1-23FDC6AE3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4" y="5013176"/>
            <a:ext cx="1524000" cy="228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625CB3-FD3A-DC4E-8847-2E0F8F746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876" y="5013176"/>
            <a:ext cx="1524000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DEE9BE-A58C-F8CF-754A-DA05B40C1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788" y="5013176"/>
            <a:ext cx="1524000" cy="2286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15A888-BB73-C1B8-C048-D0B97F53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858" y="5013176"/>
            <a:ext cx="1524000" cy="2286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7B1271-6093-AC2F-B6F7-E4B2D8EE2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36" y="5013176"/>
            <a:ext cx="1524000" cy="2286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AB6625-7C85-69D7-19C8-7592BD982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388" y="4973736"/>
            <a:ext cx="1524000" cy="2286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A915AC-7803-3781-E71D-A4E979829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654" y="5039568"/>
            <a:ext cx="1524000" cy="2286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8B6424-4636-B6F0-EF48-F46DF67D4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701" y="5013176"/>
            <a:ext cx="152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3807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0">
        <p15:prstTrans prst="pageCurlDouble"/>
      </p:transition>
    </mc:Choice>
    <mc:Fallback xmlns="">
      <p:transition spd="slow" advClick="0" advTm="10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260</TotalTime>
  <Words>1463</Words>
  <Application>Microsoft Office PowerPoint</Application>
  <PresentationFormat>Custom</PresentationFormat>
  <Paragraphs>145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Britannic Bold</vt:lpstr>
      <vt:lpstr>Corbel</vt:lpstr>
      <vt:lpstr>DeepSeek-CJK-patch</vt:lpstr>
      <vt:lpstr>Gabriola</vt:lpstr>
      <vt:lpstr>Wingdings</vt:lpstr>
      <vt:lpstr>Digital Blue Tunnel 16x9</vt:lpstr>
      <vt:lpstr>PowerPoint Presentation</vt:lpstr>
      <vt:lpstr>Introduction &amp; Background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 User</dc:creator>
  <cp:lastModifiedBy>Windows User</cp:lastModifiedBy>
  <cp:revision>14</cp:revision>
  <dcterms:created xsi:type="dcterms:W3CDTF">2025-06-27T17:29:24Z</dcterms:created>
  <dcterms:modified xsi:type="dcterms:W3CDTF">2025-06-29T17:17:21Z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